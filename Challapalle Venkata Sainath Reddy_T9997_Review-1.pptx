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svg" ContentType="image/svg+xml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6adf92326bb4546" /><Relationship Type="http://schemas.openxmlformats.org/package/2006/relationships/metadata/core-properties" Target="/docProps/core.xml" Id="R6ab203fed3b5474a" /><Relationship Type="http://schemas.openxmlformats.org/officeDocument/2006/relationships/extended-properties" Target="/docProps/app.xml" Id="R1b334df3c6b84148" /><Relationship Type="http://schemas.openxmlformats.org/officeDocument/2006/relationships/custom-properties" Target="/docProps/custom.xml" Id="R5addf4533dee4ce8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a92b891ddcc948f7"/>
  </p:sldMasterIdLst>
  <p:sldIdLst>
    <p:sldId id="256" r:id="R40baf5885ed24063"/>
    <p:sldId id="257" r:id="R046b80bf25e24b5f"/>
    <p:sldId id="258" r:id="Raac9af3c269e483a"/>
    <p:sldId id="259" r:id="Rd382e21d05af416b"/>
    <p:sldId id="260" r:id="R0fe82884f9b44c63"/>
    <p:sldId id="261" r:id="R74489857978a42e9"/>
    <p:sldId id="262" r:id="R4f2686a973e94d3e"/>
    <p:sldId id="263" r:id="Rb1f32216a7b84414"/>
    <p:sldId id="264" r:id="R201f5c18a7984c30"/>
    <p:sldId id="265" r:id="R6d31a729542b4224"/>
    <p:sldId id="266" r:id="Rdb258e604b1544c0"/>
    <p:sldId id="267" r:id="Rf8a53fd74457443a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4364844c8752408e" /><Relationship Type="http://schemas.openxmlformats.org/officeDocument/2006/relationships/viewProps" Target="/ppt/viewProps.xml" Id="R2009c8e710ec4987" /><Relationship Type="http://schemas.openxmlformats.org/officeDocument/2006/relationships/slideMaster" Target="/ppt/slideMasters/slideMaster1.xml" Id="Ra92b891ddcc948f7" /><Relationship Type="http://schemas.openxmlformats.org/officeDocument/2006/relationships/theme" Target="/ppt/slideMasters/theme/theme1.xml" Id="R341937fb97bf4257" /><Relationship Type="http://schemas.openxmlformats.org/officeDocument/2006/relationships/slide" Target="/ppt/slides/slide1.xml" Id="R40baf5885ed24063" /><Relationship Type="http://schemas.openxmlformats.org/officeDocument/2006/relationships/slide" Target="/ppt/slides/slide2.xml" Id="R046b80bf25e24b5f" /><Relationship Type="http://schemas.openxmlformats.org/officeDocument/2006/relationships/slide" Target="/ppt/slides/slide3.xml" Id="Raac9af3c269e483a" /><Relationship Type="http://schemas.openxmlformats.org/officeDocument/2006/relationships/slide" Target="/ppt/slides/slide4.xml" Id="Rd382e21d05af416b" /><Relationship Type="http://schemas.openxmlformats.org/officeDocument/2006/relationships/slide" Target="/ppt/slides/slide5.xml" Id="R0fe82884f9b44c63" /><Relationship Type="http://schemas.openxmlformats.org/officeDocument/2006/relationships/slide" Target="/ppt/slides/slide6.xml" Id="R74489857978a42e9" /><Relationship Type="http://schemas.openxmlformats.org/officeDocument/2006/relationships/slide" Target="/ppt/slides/slide7.xml" Id="R4f2686a973e94d3e" /><Relationship Type="http://schemas.openxmlformats.org/officeDocument/2006/relationships/slide" Target="/ppt/slides/slide8.xml" Id="Rb1f32216a7b84414" /><Relationship Type="http://schemas.openxmlformats.org/officeDocument/2006/relationships/slide" Target="/ppt/slides/slide9.xml" Id="R201f5c18a7984c30" /><Relationship Type="http://schemas.openxmlformats.org/officeDocument/2006/relationships/slide" Target="/ppt/slides/slide10.xml" Id="R6d31a729542b4224" /><Relationship Type="http://schemas.openxmlformats.org/officeDocument/2006/relationships/slide" Target="/ppt/slides/slide11.xml" Id="Rdb258e604b1544c0" /><Relationship Type="http://schemas.openxmlformats.org/officeDocument/2006/relationships/slide" Target="/ppt/slides/slide12.xml" Id="Rf8a53fd7445744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69483e66c4768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09d3958b9ae4c14" /><Relationship Type="http://schemas.openxmlformats.org/officeDocument/2006/relationships/image" Target="/ppt/media/image2.png" Id="Rcf86ba9eaecb4670" /><Relationship Type="http://schemas.openxmlformats.org/officeDocument/2006/relationships/image" Target="/ppt/media/image3.png" Id="Ref9d491b6551426e" /><Relationship Type="http://schemas.microsoft.com/office/2007/relationships/hdphoto" Target="/ppt/slideMasters/udata/data.wdp" Id="R94ecc0e817ca4fd7" /><Relationship Type="http://schemas.microsoft.com/office/2007/relationships/hdphoto" Target="/ppt/slideMasters/udata/data2.wdp" Id="R7353ab5e6fe949cc" /><Relationship Type="http://schemas.openxmlformats.org/officeDocument/2006/relationships/theme" Target="/ppt/slideMasters/theme/theme1.xml" Id="R9f20690810dd442a" /><Relationship Type="http://schemas.openxmlformats.org/officeDocument/2006/relationships/slideLayout" Target="/ppt/slideLayouts/slideLayout5.xml" Id="R3a561f5d70b34edd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a09d3958b9ae4c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cf86ba9eaecb4670">
            <a:extLst>
              <a:ext uri="{BEBA8EAE-BF5A-486C-A8C5-ECC9F3942E4B}">
                <a14:imgProps xmlns:a14="http://schemas.microsoft.com/office/drawing/2010/main">
                  <a14:imgLayer r:embed="R94ecc0e817ca4fd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ef9d491b6551426e">
            <a:extLst>
              <a:ext uri="{BEBA8EAE-BF5A-486C-A8C5-ECC9F3942E4B}">
                <a14:imgProps xmlns:a14="http://schemas.microsoft.com/office/drawing/2010/main">
                  <a14:imgLayer r:embed="R7353ab5e6fe949cc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3a561f5d70b34edd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f12c85389f79460e" /><Relationship Type="http://schemas.openxmlformats.org/officeDocument/2006/relationships/image" Target="/ppt/media/image.svg" Id="Re34b080db27147a5" /><Relationship Type="http://schemas.openxmlformats.org/officeDocument/2006/relationships/slideLayout" Target="/ppt/slideLayouts/slideLayout5.xml" Id="Ra5827d10279446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001b52b1910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5cbb3668db141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e274e609ae48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9194f650e2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06c275a2fa944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236961d9a524e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4.png" Id="Raca0e70f117f44fe" /><Relationship Type="http://schemas.openxmlformats.org/officeDocument/2006/relationships/image" Target="/ppt/media/image2.svg" Id="Rfa6b4b2717504791" /><Relationship Type="http://schemas.openxmlformats.org/officeDocument/2006/relationships/slideLayout" Target="/ppt/slideLayouts/slideLayout5.xml" Id="Rae92aabd878e4f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c27479065449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0b8536b300849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8b460e58fe4e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c0604d36e247db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FFFFFF"/>
                </a:solidFill>
              </a:rPr>
              <a:t>RAG-Driven Intelligent Travel Recommendation and Personalized Itinerary Generation System</a:t>
            </a:r>
          </a:p>
          <a:p>
            <a:pPr algn="ctr">
              <a:defRPr/>
            </a:pPr>
            <a:endParaRPr lang="en-US" sz="3600" b="1" dirty="0">
              <a:solidFill>
                <a:srgbClr val="FFFFFF"/>
              </a:solidFill>
            </a:endParaRPr>
          </a:p>
          <a:p>
            <a:pPr algn="ctr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Challapalle</a:t>
            </a: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 Venkata Sainath Reddy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VIT Chennai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T9997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34183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f12c85389f79460e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e34b080db27147a5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436332" cy="4619910"/>
          </a:xfrm>
        </p:spPr>
        <p:txBody>
          <a:bodyPr/>
          <a:lstStyle/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Travel planning requires information from multiple sources such as destinations, attractions, activities, accommodations, budgets, seasons, and reviews.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Traditional recommendation systems often provide generic suggestions and may not adapt to individual </a:t>
            </a:r>
            <a:r>
              <a:rPr sz="2400" b="0" dirty="0" err="1">
                <a:latin typeface="Calibri"/>
              </a:rPr>
              <a:t>traveller</a:t>
            </a:r>
            <a:r>
              <a:rPr sz="2400" b="0" dirty="0">
                <a:latin typeface="Calibri"/>
              </a:rPr>
              <a:t> preferences.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Large Language Models can generate useful travel plans, but may also hallucinate information when relevant knowledge is not retrieved from reliable sources.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This project develops a Retrieval-Augmented Generation (RAG) system that retrieves relevant travel knowledge before generating personalized recommendations and day-by-day itineraries.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• Build a RAG-based intelligent travel recommendation system.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Provide personalized destination recommendations based on user preferences.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Retrieve relevant travel information using semantic and keyword search.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Generate optimized day-by-day personalized itineraries.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Reduce LLM hallucination by grounding responses in retrieved travel knowledge.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• Covers travel destinations, attractions, activities, accommodations, budgets, and seasons.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Supports personalized recommendations using trip type, </a:t>
            </a:r>
            <a:r>
              <a:rPr sz="2400" b="0" dirty="0" err="1">
                <a:latin typeface="Calibri"/>
              </a:rPr>
              <a:t>traveller</a:t>
            </a:r>
            <a:r>
              <a:rPr sz="2400" b="0" dirty="0">
                <a:latin typeface="Calibri"/>
              </a:rPr>
              <a:t> type, duration, budget, and preferences.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Uses BGE-M3 embeddings with FAISS for semantic retrieval and BM25 for keyword retrieval.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Uses BGE reranking to select the most relevant travel documents.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Uses a local </a:t>
            </a: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 LLM to generate grounded itineraries.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Provides a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 backend with a separate HTML, CSS, and JavaScript frontend.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latin typeface="Calibri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Data Sources → PostgreSQL → RAG Documents → BGE-M3 Embeddings → FAISS + BM25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→ Candidate Fusion → BGE </a:t>
            </a:r>
            <a:r>
              <a:rPr sz="2400" b="0" dirty="0" err="1">
                <a:latin typeface="Calibri"/>
              </a:rPr>
              <a:t>Reranker</a:t>
            </a:r>
            <a:r>
              <a:rPr sz="2400" b="0" dirty="0">
                <a:latin typeface="Calibri"/>
              </a:rPr>
              <a:t> → Top Relevant Documents → </a:t>
            </a: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 LLM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→ Personalized Travel Recommendation and Day-by-Day Itinerary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Technology Stack: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Python, PostgreSQL,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, BGE-M3, FAISS, BM25, BGE </a:t>
            </a:r>
            <a:r>
              <a:rPr sz="2400" b="0" dirty="0" err="1">
                <a:latin typeface="Calibri"/>
              </a:rPr>
              <a:t>Reranker</a:t>
            </a:r>
            <a:r>
              <a:rPr sz="2400" b="0" dirty="0">
                <a:latin typeface="Calibri"/>
              </a:rPr>
              <a:t>, </a:t>
            </a:r>
            <a:r>
              <a:rPr sz="2400" b="0" dirty="0" err="1">
                <a:latin typeface="Calibri"/>
              </a:rPr>
              <a:t>Ollama</a:t>
            </a:r>
            <a:r>
              <a:rPr sz="2400" b="0" dirty="0">
                <a:latin typeface="Calibri"/>
              </a:rPr>
              <a:t>, HTML, CSS, JavaScript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latin typeface="Calibri"/>
              </a:rPr>
              <a:t>System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Aft>
                <a:spcPts val="500"/>
              </a:spcAft>
              <a:buFont typeface="+mj-lt"/>
              <a:buAutoNum type="arabicPeriod"/>
            </a:pPr>
            <a:r>
              <a:rPr sz="2400" b="0" dirty="0">
                <a:latin typeface="Calibri"/>
              </a:rPr>
              <a:t>Module 1 – Dataset Ingestion and PostgreSQL ETL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2 – Travel Document Creation and Validation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3 – BGE-M3 Embedding and FAISS Indexing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4 – Hybrid Retrieval using FAISS + BM25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5 – BGE Reranking and RAG Generation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6 – </a:t>
            </a:r>
            <a:r>
              <a:rPr sz="2400" b="0" dirty="0" err="1">
                <a:latin typeface="Calibri"/>
              </a:rPr>
              <a:t>FastAPI</a:t>
            </a:r>
            <a:r>
              <a:rPr sz="2400" b="0" dirty="0">
                <a:latin typeface="Calibri"/>
              </a:rPr>
              <a:t> Backend and Web 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latin typeface="Calibri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spcAft>
                <a:spcPts val="500"/>
              </a:spcAft>
              <a:buNone/>
            </a:pPr>
            <a:r>
              <a:rPr sz="2400" b="0" dirty="0">
                <a:latin typeface="Calibri"/>
              </a:rPr>
              <a:t>Module 1 – Dataset Ingestion and ETL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Load India tourism JSON, Google review data, destination names, and schema information.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Validate and normalize the source data.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Store structured destination information in PostgreSQL.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Module 2 – RAG Document Creation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Convert destination records into coherent retrieval documents.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Validate document completeness and remove retrieval inconsistencies.</a:t>
            </a:r>
          </a:p>
          <a:p>
            <a:pPr>
              <a:spcAft>
                <a:spcPts val="500"/>
              </a:spcAft>
            </a:pPr>
            <a:r>
              <a:rPr sz="2400" b="0" dirty="0">
                <a:latin typeface="Calibri"/>
              </a:rPr>
              <a:t>• Prepare the processed document collection for embedding and retrieval.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sz="3600" b="1">
                <a:latin typeface="Calibri"/>
              </a:rPr>
              <a:t>Module 1 &amp; Module 2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800">
                <a:latin typeface="Calibri"/>
              </a:rPr>
              <a:t>RAG-Driven Intelligent Travel Recommendation and Personalized Itinerary Generation System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b="1" dirty="0">
                <a:solidFill>
                  <a:srgbClr val="FFFFFF"/>
                </a:solidFill>
              </a:rPr>
              <a:t>Autonomous AI Agent for Cybersecurity Investigation and Incident Response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Challapalle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Venkata Sainath Reddy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T9997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34183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aca0e70f117f44fe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fa6b4b2717504791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b="0" dirty="0">
                <a:latin typeface="Calibri (Body)"/>
              </a:rPr>
              <a:t>Modern organizations generate huge volumes of security logs, alerts, network events, and incident data, making manual cybersecurity investigation slow and challenging.</a:t>
            </a:r>
          </a:p>
          <a:p>
            <a:r>
              <a:rPr lang="en-IN" b="0" dirty="0">
                <a:latin typeface="Calibri (Body)"/>
              </a:rPr>
              <a:t>Traditional security systems often generate alerts but have limited ability to correlate events, understand attack patterns, and identify the root cause of an incident.</a:t>
            </a:r>
          </a:p>
          <a:p>
            <a:r>
              <a:rPr lang="en-IN" b="0" dirty="0">
                <a:latin typeface="Calibri (Body)"/>
              </a:rPr>
              <a:t>This project proposes an Autonomous AI Agent for Cybersecurity Investigation and Incident Response that uses Agentic AI, RAG, and LLM-based reasoning to </a:t>
            </a:r>
            <a:r>
              <a:rPr lang="en-IN" b="0" dirty="0" err="1">
                <a:latin typeface="Calibri (Body)"/>
              </a:rPr>
              <a:t>analyze</a:t>
            </a:r>
            <a:r>
              <a:rPr lang="en-IN" b="0" dirty="0">
                <a:latin typeface="Calibri (Body)"/>
              </a:rPr>
              <a:t> security data, correlate related events, identify potential threats and attack patterns, and generate attack timelines and response recommendations.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Calibri (Body)"/>
              </a:rPr>
              <a:t>Automate cybersecurity incident investigation using Agentic AI. </a:t>
            </a:r>
          </a:p>
          <a:p>
            <a:pPr lvl="0"/>
            <a:r>
              <a:rPr lang="en-IN" b="0" dirty="0" err="1">
                <a:latin typeface="Calibri (Body)"/>
              </a:rPr>
              <a:t>Analyze</a:t>
            </a:r>
            <a:r>
              <a:rPr lang="en-IN" b="0" dirty="0">
                <a:latin typeface="Calibri (Body)"/>
              </a:rPr>
              <a:t> and correlate security logs, alerts, and incident data from multiple sources. </a:t>
            </a:r>
          </a:p>
          <a:p>
            <a:pPr lvl="0"/>
            <a:r>
              <a:rPr lang="en-IN" b="0" dirty="0">
                <a:latin typeface="Calibri (Body)"/>
              </a:rPr>
              <a:t>Identify threats, root causes, and attack patterns through multi-step AI reasoning. </a:t>
            </a:r>
          </a:p>
          <a:p>
            <a:pPr lvl="0"/>
            <a:r>
              <a:rPr lang="en-IN" b="0" dirty="0">
                <a:latin typeface="Calibri (Body)"/>
              </a:rPr>
              <a:t>Generate attack timelines and recommend appropriate response actions. </a:t>
            </a:r>
          </a:p>
          <a:p>
            <a:pPr lvl="0"/>
            <a:r>
              <a:rPr lang="en-IN" b="0" dirty="0">
                <a:latin typeface="Calibri (Body)"/>
              </a:rPr>
              <a:t>Reduce investigation time and assist cybersecurity analysts.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lvl="0"/>
            <a:r>
              <a:rPr lang="en-IN" b="0" dirty="0">
                <a:latin typeface="Calibri (Body)"/>
              </a:rPr>
              <a:t>Security Data Analysis – </a:t>
            </a:r>
            <a:r>
              <a:rPr lang="en-IN" b="0" dirty="0" err="1">
                <a:latin typeface="Calibri (Body)"/>
              </a:rPr>
              <a:t>Analyze</a:t>
            </a:r>
            <a:r>
              <a:rPr lang="en-IN" b="0" dirty="0">
                <a:latin typeface="Calibri (Body)"/>
              </a:rPr>
              <a:t> logs, alerts, network events, and incident data. </a:t>
            </a:r>
          </a:p>
          <a:p>
            <a:pPr lvl="0"/>
            <a:r>
              <a:rPr lang="en-IN" b="0" dirty="0">
                <a:latin typeface="Calibri (Body)"/>
              </a:rPr>
              <a:t>Event Correlation – Correlate security events from multiple sources. </a:t>
            </a:r>
          </a:p>
          <a:p>
            <a:pPr lvl="0"/>
            <a:r>
              <a:rPr lang="en-IN" b="0" dirty="0">
                <a:latin typeface="Calibri (Body)"/>
              </a:rPr>
              <a:t>Threat Detection – Identify suspicious activities, attack patterns, and potential threats. </a:t>
            </a:r>
          </a:p>
          <a:p>
            <a:pPr lvl="0"/>
            <a:r>
              <a:rPr lang="en-IN" b="0" dirty="0">
                <a:latin typeface="Calibri (Body)"/>
              </a:rPr>
              <a:t>Root-Cause Analysis – Determine the likely cause and progression of security incidents. </a:t>
            </a:r>
          </a:p>
          <a:p>
            <a:pPr lvl="0"/>
            <a:r>
              <a:rPr lang="en-IN" b="0" dirty="0">
                <a:latin typeface="Calibri (Body)"/>
              </a:rPr>
              <a:t>Attack Timeline Generation – Build chronological timelines of detected attacks. </a:t>
            </a:r>
          </a:p>
          <a:p>
            <a:pPr lvl="0"/>
            <a:r>
              <a:rPr lang="en-IN" b="0" dirty="0">
                <a:latin typeface="Calibri (Body)"/>
              </a:rPr>
              <a:t>Automated Response Recommendations – Suggest appropriate incident-response actions. </a:t>
            </a:r>
          </a:p>
          <a:p>
            <a:pPr lvl="0"/>
            <a:r>
              <a:rPr lang="en-IN" b="0" dirty="0">
                <a:latin typeface="Calibri (Body)"/>
              </a:rPr>
              <a:t>Analyst Assistance – Reduce manual investigation effort and improve investigation speed.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236011"/>
            <a:ext cx="10624338" cy="4142989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Security Data Collection &amp; Preprocessing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Log &amp; Event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Threat Detection &amp; Event Correlation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RAG &amp; Threat Intelligence Retrieval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Agentic AI Investigation &amp; Reasoning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Root-Cause &amp; Attack Pattern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Attack Timeline Generation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Incident Response Recommendation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Incident Report Generation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Calibri (Body)"/>
              </a:rPr>
              <a:t>Dashboard &amp; Analyst Interface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5583D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44874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37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Venkata Sainath Reddy</lastModifiedBy>
  <revision>14</revision>
  <dcterms:created xsi:type="dcterms:W3CDTF">2024-05-13T10:33:11.0000000Z</dcterms:created>
  <dcterms:modified xsi:type="dcterms:W3CDTF">2026-10-05T21:43:18.5980000Z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