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wdp" ContentType="image/vnd.ms-photo"/>
  <Default Extension="svg" ContentType="image/svg+xml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d31261ff9bd48f6" /><Relationship Type="http://schemas.openxmlformats.org/package/2006/relationships/metadata/core-properties" Target="/docProps/core.xml" Id="R4a6f507b1571440b" /><Relationship Type="http://schemas.openxmlformats.org/officeDocument/2006/relationships/extended-properties" Target="/docProps/app.xml" Id="Rfc11beb9f5ce4358" /><Relationship Type="http://schemas.openxmlformats.org/officeDocument/2006/relationships/custom-properties" Target="/docProps/custom.xml" Id="R0eda8a3da0624757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b0e2d730ae364703"/>
  </p:sldMasterIdLst>
  <p:sldIdLst>
    <p:sldId id="256" r:id="R2342a39f2e484812"/>
    <p:sldId id="257" r:id="R60154b22a3274811"/>
    <p:sldId id="258" r:id="Rb21874f8262940de"/>
    <p:sldId id="259" r:id="Rd5d2beeab96e4c80"/>
    <p:sldId id="260" r:id="R55328573d9494f13"/>
    <p:sldId id="261" r:id="R8613178b0cb041ed"/>
    <p:sldId id="262" r:id="Rb40169cd823a46d8"/>
    <p:sldId id="263" r:id="R6ee8604f3bea48a9"/>
    <p:sldId id="264" r:id="R4841a4571de94900"/>
    <p:sldId id="265" r:id="Rf95a8056164e488a"/>
    <p:sldId id="266" r:id="Rb08974b7931a4c64"/>
    <p:sldId id="267" r:id="R90480b0b8ff34cac"/>
    <p:sldId id="268" r:id="R92b5b84b488b4237"/>
    <p:sldId id="269" r:id="R523bbb97140743eb"/>
    <p:sldId id="270" r:id="Rccea3270d0924924"/>
    <p:sldId id="271" r:id="R904e0167674b46b5"/>
    <p:sldId id="272" r:id="R3fcfa367b4ea4baa"/>
    <p:sldId id="273" r:id="R770ad0cc296a47ba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298a7da31605475e" /><Relationship Type="http://schemas.openxmlformats.org/officeDocument/2006/relationships/viewProps" Target="/ppt/viewProps.xml" Id="R766b9959bdf14d9e" /><Relationship Type="http://schemas.openxmlformats.org/officeDocument/2006/relationships/slideMaster" Target="/ppt/slideMasters/slideMaster1.xml" Id="Rb0e2d730ae364703" /><Relationship Type="http://schemas.openxmlformats.org/officeDocument/2006/relationships/theme" Target="/ppt/slideMasters/theme/theme1.xml" Id="R344ced0c79c740a9" /><Relationship Type="http://schemas.openxmlformats.org/officeDocument/2006/relationships/slide" Target="/ppt/slides/slide1.xml" Id="R2342a39f2e484812" /><Relationship Type="http://schemas.openxmlformats.org/officeDocument/2006/relationships/slide" Target="/ppt/slides/slide2.xml" Id="R60154b22a3274811" /><Relationship Type="http://schemas.openxmlformats.org/officeDocument/2006/relationships/slide" Target="/ppt/slides/slide3.xml" Id="Rb21874f8262940de" /><Relationship Type="http://schemas.openxmlformats.org/officeDocument/2006/relationships/slide" Target="/ppt/slides/slide4.xml" Id="Rd5d2beeab96e4c80" /><Relationship Type="http://schemas.openxmlformats.org/officeDocument/2006/relationships/slide" Target="/ppt/slides/slide5.xml" Id="R55328573d9494f13" /><Relationship Type="http://schemas.openxmlformats.org/officeDocument/2006/relationships/slide" Target="/ppt/slides/slide6.xml" Id="R8613178b0cb041ed" /><Relationship Type="http://schemas.openxmlformats.org/officeDocument/2006/relationships/slide" Target="/ppt/slides/slide7.xml" Id="Rb40169cd823a46d8" /><Relationship Type="http://schemas.openxmlformats.org/officeDocument/2006/relationships/slide" Target="/ppt/slides/slide8.xml" Id="R6ee8604f3bea48a9" /><Relationship Type="http://schemas.openxmlformats.org/officeDocument/2006/relationships/slide" Target="/ppt/slides/slide9.xml" Id="R4841a4571de94900" /><Relationship Type="http://schemas.openxmlformats.org/officeDocument/2006/relationships/slide" Target="/ppt/slides/slide10.xml" Id="Rf95a8056164e488a" /><Relationship Type="http://schemas.openxmlformats.org/officeDocument/2006/relationships/slide" Target="/ppt/slides/slide11.xml" Id="Rb08974b7931a4c64" /><Relationship Type="http://schemas.openxmlformats.org/officeDocument/2006/relationships/slide" Target="/ppt/slides/slide12.xml" Id="R90480b0b8ff34cac" /><Relationship Type="http://schemas.openxmlformats.org/officeDocument/2006/relationships/slide" Target="/ppt/slides/slide13.xml" Id="R92b5b84b488b4237" /><Relationship Type="http://schemas.openxmlformats.org/officeDocument/2006/relationships/slide" Target="/ppt/slides/slide14.xml" Id="R523bbb97140743eb" /><Relationship Type="http://schemas.openxmlformats.org/officeDocument/2006/relationships/slide" Target="/ppt/slides/slide15.xml" Id="Rccea3270d0924924" /><Relationship Type="http://schemas.openxmlformats.org/officeDocument/2006/relationships/slide" Target="/ppt/slides/slide16.xml" Id="R904e0167674b46b5" /><Relationship Type="http://schemas.openxmlformats.org/officeDocument/2006/relationships/slide" Target="/ppt/slides/slide17.xml" Id="R3fcfa367b4ea4baa" /><Relationship Type="http://schemas.openxmlformats.org/officeDocument/2006/relationships/slide" Target="/ppt/slides/slide18.xml" Id="R770ad0cc296a47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8df874b664101" /></Relationships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f04d1b90cad24d48" /><Relationship Type="http://schemas.openxmlformats.org/officeDocument/2006/relationships/image" Target="/ppt/media/image2.png" Id="Rfa3d85f1c7b34d19" /><Relationship Type="http://schemas.openxmlformats.org/officeDocument/2006/relationships/image" Target="/ppt/media/image3.png" Id="R04e77196b1d1405e" /><Relationship Type="http://schemas.microsoft.com/office/2007/relationships/hdphoto" Target="/ppt/slideMasters/udata/data.wdp" Id="R5cd403f3ddff4d7c" /><Relationship Type="http://schemas.microsoft.com/office/2007/relationships/hdphoto" Target="/ppt/slideMasters/udata/data2.wdp" Id="R0f2e1ec467784244" /><Relationship Type="http://schemas.openxmlformats.org/officeDocument/2006/relationships/theme" Target="/ppt/slideMasters/theme/theme1.xml" Id="Rcc283b3018554054" /><Relationship Type="http://schemas.openxmlformats.org/officeDocument/2006/relationships/slideLayout" Target="/ppt/slideLayouts/slideLayout5.xml" Id="R4d44289ec2ee4659" 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f04d1b90cad24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fa3d85f1c7b34d19">
            <a:extLst>
              <a:ext uri="{BEBA8EAE-BF5A-486C-A8C5-ECC9F3942E4B}">
                <a14:imgProps xmlns:a14="http://schemas.microsoft.com/office/drawing/2010/main">
                  <a14:imgLayer r:embed="R5cd403f3ddff4d7c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04e77196b1d1405e">
            <a:extLst>
              <a:ext uri="{BEBA8EAE-BF5A-486C-A8C5-ECC9F3942E4B}">
                <a14:imgProps xmlns:a14="http://schemas.microsoft.com/office/drawing/2010/main">
                  <a14:imgLayer r:embed="R0f2e1ec46778424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4d44289ec2ee465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png" Id="R4c550ee5644f49a9" /><Relationship Type="http://schemas.openxmlformats.org/officeDocument/2006/relationships/image" Target="/ppt/media/image.svg" Id="Rfdafbcec3d0a4fcb" /><Relationship Type="http://schemas.openxmlformats.org/officeDocument/2006/relationships/slideLayout" Target="/ppt/slideLayouts/slideLayout5.xml" Id="R2403ff320d7343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573a5fe027340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3c8ac736f142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b034c74cf046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504231f2bb046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c73c308bc8c46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0f7acc4ba842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a0afbd1a5a848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212811c38fb42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4.png" Id="Rf932da7169df4c71" /><Relationship Type="http://schemas.openxmlformats.org/officeDocument/2006/relationships/image" Target="/ppt/media/image.svg" Id="R613ad9c19eef4833" /><Relationship Type="http://schemas.openxmlformats.org/officeDocument/2006/relationships/slideLayout" Target="/ppt/slideLayouts/slideLayout5.xml" Id="R89452b8eccc04e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ba69413a8e649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c55b5bd46d945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c2921ce6b74e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d0cee0224bd44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db10916c1c44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9595980527949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c21e42f7feb4b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15a6b96d88b4525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RAG-Driven Intelligent Travel Recommendation and Personalized Itinerary Generation System 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Challapalle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Venkata Sainath Reddy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T9997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4c550ee5644f49a9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85CE2BE-790B-AB1A-7DE7-A3C43146A65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fdafbcec3d0a4fcb"/>
              </a:ext>
            </a:extLst>
          </a:blip>
          <a:srcRect/>
          <a:stretch/>
        </p:blipFill>
        <p:spPr bwMode="auto">
          <a:xfrm>
            <a:off x="148893" y="5926144"/>
            <a:ext cx="2628854" cy="70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Travel planning requires information from multiple sources including destinations, attractions, activities, accommodations, budgets, seasons, and reviews.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Traditional travel recommendation systems often provide generic suggestions that do not fully match individual </a:t>
            </a:r>
            <a:r>
              <a:rPr sz="2400" b="0" dirty="0" err="1">
                <a:latin typeface="Calibri"/>
              </a:rPr>
              <a:t>traveller</a:t>
            </a:r>
            <a:r>
              <a:rPr sz="2400" b="0" dirty="0">
                <a:latin typeface="Calibri"/>
              </a:rPr>
              <a:t> preferences. LLMs can also hallucinate when responses are not grounded in reliable retrieved information.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This project develops a RAG-driven travel recommendation system that retrieves relevant travel knowledge and generates personalized recommendations and day-by-day itineraries.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sz="3600"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Build a RAG-based intelligent travel recommendation system.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Provide personalized destination recommendations based on user preferences.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Generate optimized day-by-day travel itineraries.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Reduce hallucination by grounding LLM responses in retrieved travel information.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Support dynamic travel planning based on duration, budget, trip type, and activities.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sz="3600">
                <a:latin typeface="Calibri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Module 1 – Dataset Ingestion &amp; PostgreSQL ETL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Module 2 – Travel Document Creation &amp; Validation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Module 3 – BGE-M3 Embedding &amp; FAISS Indexing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Module 4 – Hybrid Retrieval using FAISS + BM25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Module 5 – BGE Reranking &amp; RAG Generation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Module 6 – </a:t>
            </a:r>
            <a:r>
              <a:rPr sz="2400" b="0" dirty="0" err="1">
                <a:latin typeface="Calibri"/>
              </a:rPr>
              <a:t>FastAPI</a:t>
            </a:r>
            <a:r>
              <a:rPr sz="2400" b="0" dirty="0">
                <a:latin typeface="Calibri"/>
              </a:rPr>
              <a:t> Backend &amp; HTML/CSS/JS Frontend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sz="3600">
                <a:latin typeface="Calibri"/>
              </a:rPr>
              <a:t>Module 1–6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spcAft>
                <a:spcPts val="500"/>
              </a:spcAft>
              <a:buNone/>
            </a:pPr>
            <a:r>
              <a:rPr lang="en-GB" sz="2400" b="0" dirty="0">
                <a:latin typeface="Calibri"/>
              </a:rPr>
              <a:t>1. Collect and validate tourism, destination, accommodation, activity, budget, season, and review data.</a:t>
            </a:r>
            <a:endParaRPr sz="2400" b="0" dirty="0">
              <a:latin typeface="Calibri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2. Store structured travel information in PostgreSQL.</a:t>
            </a:r>
          </a:p>
          <a:p>
            <a:pPr marL="0" indent="0"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3. Convert destination records into coherent RAG documents.</a:t>
            </a:r>
          </a:p>
          <a:p>
            <a:pPr marL="0" indent="0"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4. Generate semantic embeddings using BGE-M3 and build a local FAISS index.</a:t>
            </a:r>
          </a:p>
          <a:p>
            <a:pPr marL="0" indent="0"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5. Perform hybrid retrieval using FAISS semantic search and BM25 keyword search.</a:t>
            </a:r>
          </a:p>
          <a:p>
            <a:pPr marL="0" indent="0"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6. </a:t>
            </a:r>
            <a:r>
              <a:rPr sz="2400" b="0" dirty="0" err="1">
                <a:latin typeface="Calibri"/>
              </a:rPr>
              <a:t>Rerank</a:t>
            </a:r>
            <a:r>
              <a:rPr sz="2400" b="0" dirty="0">
                <a:latin typeface="Calibri"/>
              </a:rPr>
              <a:t> retrieved candidates using a BGE </a:t>
            </a:r>
            <a:r>
              <a:rPr sz="2400" b="0" dirty="0" err="1">
                <a:latin typeface="Calibri"/>
              </a:rPr>
              <a:t>reranker</a:t>
            </a:r>
            <a:r>
              <a:rPr sz="2400" b="0" dirty="0">
                <a:latin typeface="Calibri"/>
              </a:rPr>
              <a:t>.</a:t>
            </a:r>
          </a:p>
          <a:p>
            <a:pPr marL="0" indent="0"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7. Pass only the most relevant evidence to the local </a:t>
            </a:r>
            <a:r>
              <a:rPr sz="2400" b="0" dirty="0" err="1">
                <a:latin typeface="Calibri"/>
              </a:rPr>
              <a:t>Ollama</a:t>
            </a:r>
            <a:r>
              <a:rPr sz="2400" b="0" dirty="0">
                <a:latin typeface="Calibri"/>
              </a:rPr>
              <a:t> LLM.</a:t>
            </a:r>
          </a:p>
          <a:p>
            <a:pPr marL="0" indent="0"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8. Generate a grounded personalized recommendation and itinerary through </a:t>
            </a:r>
            <a:r>
              <a:rPr sz="2400" b="0" dirty="0" err="1">
                <a:latin typeface="Calibri"/>
              </a:rPr>
              <a:t>FastAPI</a:t>
            </a:r>
            <a:r>
              <a:rPr sz="2400" b="0" dirty="0">
                <a:latin typeface="Calibri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sz="3600">
                <a:latin typeface="Calibri"/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2400" b="0" dirty="0">
                <a:latin typeface="Calibri"/>
              </a:rPr>
              <a:t>Validate the India tourism JSON structure and destination records.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Clean and normalize Google review rating values and structured travel fields.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Load destinations, attractions, activities, accommodations, budgets, and seasons into PostgreSQL.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Create one coherent retrieval document for each destination.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Validate document completeness, IDs, duplicates, and empty content.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Generate and save BGE-M3 embeddings and a local FAISS index.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Prepare BM25 tokenization for keyword retrieval.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sz="3600"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Algorithms: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BGE-M3 for semantic embeddings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FAISS for local vector similarity search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BM25 for keyword-based retrieval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BGE </a:t>
            </a:r>
            <a:r>
              <a:rPr sz="2400" b="0" dirty="0" err="1">
                <a:latin typeface="Calibri"/>
              </a:rPr>
              <a:t>Reranker</a:t>
            </a:r>
            <a:r>
              <a:rPr sz="2400" b="0" dirty="0">
                <a:latin typeface="Calibri"/>
              </a:rPr>
              <a:t> for relevance ranking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Retrieval-Augmented Generation for grounded responses</a:t>
            </a:r>
          </a:p>
          <a:p>
            <a:pPr>
              <a:spcAft>
                <a:spcPts val="500"/>
              </a:spcAft>
            </a:pPr>
            <a:r>
              <a:rPr sz="2400" b="0" dirty="0" err="1">
                <a:latin typeface="Calibri"/>
              </a:rPr>
              <a:t>Ollama</a:t>
            </a:r>
            <a:r>
              <a:rPr sz="2400" b="0" dirty="0">
                <a:latin typeface="Calibri"/>
              </a:rPr>
              <a:t> with a local LLM for itinerary generation</a:t>
            </a:r>
            <a:endParaRPr sz="2800" dirty="0">
              <a:latin typeface="Calibri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Tools: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Python, PostgreSQL, </a:t>
            </a:r>
            <a:r>
              <a:rPr sz="2400" b="0" dirty="0" err="1">
                <a:latin typeface="Calibri"/>
              </a:rPr>
              <a:t>FastAPI</a:t>
            </a:r>
            <a:r>
              <a:rPr sz="2400" b="0" dirty="0">
                <a:latin typeface="Calibri"/>
              </a:rPr>
              <a:t>, Sentence Transformers, FAISS, Rank-BM25, </a:t>
            </a:r>
            <a:r>
              <a:rPr sz="2400" b="0" dirty="0" err="1">
                <a:latin typeface="Calibri"/>
              </a:rPr>
              <a:t>Ollama</a:t>
            </a:r>
            <a:r>
              <a:rPr sz="2400" b="0" dirty="0">
                <a:latin typeface="Calibri"/>
              </a:rPr>
              <a:t>, HTML, CSS, JavaScript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sz="3600"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Completed: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✓ Dataset ingestion and PostgreSQL ETL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✓ RAG document generation and validation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✓ BGE-M3 embedding generation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✓ FAISS local vector index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✓ BM25 hybrid retrieval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✓ BGE reranking pipeline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✓ </a:t>
            </a:r>
            <a:r>
              <a:rPr sz="2400" b="0" dirty="0" err="1">
                <a:latin typeface="Calibri"/>
              </a:rPr>
              <a:t>Ollama</a:t>
            </a:r>
            <a:r>
              <a:rPr sz="2400" b="0" dirty="0">
                <a:latin typeface="Calibri"/>
              </a:rPr>
              <a:t> local LLM integration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✓ </a:t>
            </a:r>
            <a:r>
              <a:rPr sz="2400" b="0" dirty="0" err="1">
                <a:latin typeface="Calibri"/>
              </a:rPr>
              <a:t>FastAPI</a:t>
            </a:r>
            <a:r>
              <a:rPr sz="2400" b="0" dirty="0">
                <a:latin typeface="Calibri"/>
              </a:rPr>
              <a:t> backend and HTML/CSS/JS frontend</a:t>
            </a:r>
          </a:p>
          <a:p>
            <a:pPr>
              <a:spcAft>
                <a:spcPts val="500"/>
              </a:spcAft>
            </a:pPr>
            <a:endParaRPr sz="2800" dirty="0"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sz="3600">
                <a:latin typeface="Calibri"/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5837898" cy="4964676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sz="2000" b="0" dirty="0">
                <a:latin typeface="Calibri"/>
              </a:rPr>
              <a:t>Raw Travel Data</a:t>
            </a:r>
            <a:endParaRPr lang="en-US" sz="2000" b="0" dirty="0">
              <a:solidFill>
                <a:srgbClr val="5583D1"/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r>
              <a:rPr sz="2000" b="0" dirty="0">
                <a:latin typeface="Calibri"/>
              </a:rPr>
              <a:t>↓</a:t>
            </a:r>
          </a:p>
          <a:p>
            <a:pPr marL="0" indent="0">
              <a:spcAft>
                <a:spcPts val="500"/>
              </a:spcAft>
              <a:buNone/>
            </a:pPr>
            <a:r>
              <a:rPr sz="2000" b="0" dirty="0">
                <a:latin typeface="Calibri"/>
              </a:rPr>
              <a:t>ETL &amp; PostgreSQL</a:t>
            </a:r>
          </a:p>
          <a:p>
            <a:pPr marL="0" indent="0">
              <a:spcAft>
                <a:spcPts val="500"/>
              </a:spcAft>
              <a:buNone/>
            </a:pPr>
            <a:r>
              <a:rPr sz="2000" b="0" dirty="0">
                <a:latin typeface="Calibri"/>
              </a:rPr>
              <a:t>↓</a:t>
            </a:r>
          </a:p>
          <a:p>
            <a:pPr marL="0" indent="0">
              <a:spcAft>
                <a:spcPts val="500"/>
              </a:spcAft>
              <a:buNone/>
            </a:pPr>
            <a:r>
              <a:rPr sz="2000" b="0" dirty="0">
                <a:latin typeface="Calibri"/>
              </a:rPr>
              <a:t>Destination RAG Documents</a:t>
            </a:r>
          </a:p>
          <a:p>
            <a:pPr marL="0" indent="0">
              <a:spcAft>
                <a:spcPts val="500"/>
              </a:spcAft>
              <a:buNone/>
            </a:pPr>
            <a:r>
              <a:rPr sz="2000" b="0" dirty="0">
                <a:latin typeface="Calibri"/>
              </a:rPr>
              <a:t>↓</a:t>
            </a:r>
          </a:p>
          <a:p>
            <a:pPr marL="0" indent="0">
              <a:spcAft>
                <a:spcPts val="500"/>
              </a:spcAft>
              <a:buNone/>
            </a:pPr>
            <a:r>
              <a:rPr sz="2000" b="0" dirty="0">
                <a:latin typeface="Calibri"/>
              </a:rPr>
              <a:t>BGE-M3 Embeddings</a:t>
            </a:r>
          </a:p>
          <a:p>
            <a:pPr marL="0" indent="0">
              <a:spcAft>
                <a:spcPts val="500"/>
              </a:spcAft>
              <a:buNone/>
            </a:pPr>
            <a:r>
              <a:rPr sz="2000" b="0" dirty="0">
                <a:latin typeface="Calibri"/>
              </a:rPr>
              <a:t>↓</a:t>
            </a:r>
          </a:p>
          <a:p>
            <a:pPr marL="0" indent="0">
              <a:spcAft>
                <a:spcPts val="500"/>
              </a:spcAft>
              <a:buNone/>
            </a:pPr>
            <a:endParaRPr sz="2400" b="0" dirty="0"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sz="3600"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DF31EF-09BA-4F42-5342-1779A970CC74}"/>
              </a:ext>
            </a:extLst>
          </p:cNvPr>
          <p:cNvSpPr txBox="1"/>
          <p:nvPr/>
        </p:nvSpPr>
        <p:spPr>
          <a:xfrm>
            <a:off x="5816184" y="1271221"/>
            <a:ext cx="5591331" cy="5511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IN" sz="2000" dirty="0"/>
              <a:t>FAISS Vector Search + BM25 Keyword Search</a:t>
            </a:r>
          </a:p>
          <a:p>
            <a:pPr>
              <a:spcAft>
                <a:spcPts val="500"/>
              </a:spcAft>
            </a:pPr>
            <a:r>
              <a:rPr lang="en-IN" sz="2000" dirty="0"/>
              <a:t>↓</a:t>
            </a:r>
          </a:p>
          <a:p>
            <a:pPr>
              <a:spcAft>
                <a:spcPts val="500"/>
              </a:spcAft>
            </a:pPr>
            <a:r>
              <a:rPr lang="en-IN" sz="2000" dirty="0"/>
              <a:t>Candidate Fusion</a:t>
            </a:r>
          </a:p>
          <a:p>
            <a:pPr>
              <a:spcAft>
                <a:spcPts val="500"/>
              </a:spcAft>
            </a:pPr>
            <a:r>
              <a:rPr lang="en-IN" sz="2000" dirty="0"/>
              <a:t>↓</a:t>
            </a:r>
          </a:p>
          <a:p>
            <a:pPr>
              <a:spcAft>
                <a:spcPts val="500"/>
              </a:spcAft>
            </a:pPr>
            <a:r>
              <a:rPr lang="en-IN" sz="2000" dirty="0"/>
              <a:t>BGE </a:t>
            </a:r>
            <a:r>
              <a:rPr lang="en-IN" sz="2000" dirty="0" err="1"/>
              <a:t>Reranker</a:t>
            </a:r>
            <a:endParaRPr lang="en-IN" sz="2000" dirty="0"/>
          </a:p>
          <a:p>
            <a:pPr>
              <a:spcAft>
                <a:spcPts val="500"/>
              </a:spcAft>
            </a:pPr>
            <a:r>
              <a:rPr lang="en-IN" sz="2000" dirty="0"/>
              <a:t>↓</a:t>
            </a:r>
          </a:p>
          <a:p>
            <a:pPr>
              <a:spcAft>
                <a:spcPts val="500"/>
              </a:spcAft>
            </a:pPr>
            <a:r>
              <a:rPr lang="en-IN" sz="2000" dirty="0"/>
              <a:t>Top Relevant Travel Context</a:t>
            </a:r>
          </a:p>
          <a:p>
            <a:pPr>
              <a:spcAft>
                <a:spcPts val="500"/>
              </a:spcAft>
            </a:pPr>
            <a:r>
              <a:rPr lang="en-IN" sz="2000" dirty="0"/>
              <a:t>↓</a:t>
            </a:r>
          </a:p>
          <a:p>
            <a:pPr>
              <a:spcAft>
                <a:spcPts val="500"/>
              </a:spcAft>
            </a:pPr>
            <a:r>
              <a:rPr lang="en-IN" sz="2000" dirty="0" err="1"/>
              <a:t>Ollama</a:t>
            </a:r>
            <a:r>
              <a:rPr lang="en-IN" sz="2000" dirty="0"/>
              <a:t> Local LLM</a:t>
            </a:r>
          </a:p>
          <a:p>
            <a:pPr>
              <a:spcAft>
                <a:spcPts val="500"/>
              </a:spcAft>
            </a:pPr>
            <a:r>
              <a:rPr lang="en-IN" sz="2000" dirty="0"/>
              <a:t>↓</a:t>
            </a:r>
          </a:p>
          <a:p>
            <a:pPr>
              <a:spcAft>
                <a:spcPts val="500"/>
              </a:spcAft>
            </a:pPr>
            <a:r>
              <a:rPr lang="en-IN" sz="2000" dirty="0"/>
              <a:t>Personalized Recommendation + Day-by-Day Itinerary</a:t>
            </a:r>
          </a:p>
          <a:p>
            <a:pPr>
              <a:spcAft>
                <a:spcPts val="500"/>
              </a:spcAft>
            </a:pPr>
            <a:r>
              <a:rPr lang="en-IN" sz="2000" dirty="0"/>
              <a:t>↓</a:t>
            </a:r>
          </a:p>
          <a:p>
            <a:pPr>
              <a:spcAft>
                <a:spcPts val="500"/>
              </a:spcAft>
            </a:pPr>
            <a:r>
              <a:rPr lang="en-IN" sz="2000" dirty="0" err="1"/>
              <a:t>FastAPI</a:t>
            </a:r>
            <a:r>
              <a:rPr lang="en-IN" sz="2000" dirty="0"/>
              <a:t> + HTML/CSS/JavaScript Web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Autonomous AI Agent for Cybersecurity Investigation and Incident Response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Challapalle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Venkata Sainath Reddy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T9997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f932da7169df4c71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85CE2BE-790B-AB1A-7DE7-A3C43146A65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613ad9c19eef4833"/>
              </a:ext>
            </a:extLst>
          </a:blip>
          <a:srcRect/>
          <a:stretch/>
        </p:blipFill>
        <p:spPr bwMode="auto">
          <a:xfrm>
            <a:off x="148893" y="5926144"/>
            <a:ext cx="2628854" cy="70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b="0" dirty="0"/>
              <a:t>Modern organizations generate large volumes of security logs, alerts, network events, and incident data, making manual investigation slow and difficult.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endParaRPr b="0" dirty="0"/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b="0" dirty="0"/>
              <a:t>Traditional security systems often generate alerts without effectively correlating events, understanding attack patterns, or identifying root causes.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endParaRPr b="0" dirty="0"/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b="0" dirty="0"/>
              <a:t>This project proposes an Agentic AI-based cybersecurity investigation system that combines multi-step AI reasoning, Retrieval-Augmented Generation, security event correlation, and threat intelligence to support evidence-based incident 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3600">
                <a:latin typeface="Calibri"/>
              </a:defRPr>
            </a:pPr>
            <a: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spcAft>
                <a:spcPts val="400"/>
              </a:spcAft>
              <a:defRPr sz="1800">
                <a:latin typeface="Calibri"/>
              </a:defRPr>
            </a:pPr>
            <a:r>
              <a:t>Autonomous AI Agent for Cybersecurity Investigation and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400"/>
              </a:spcAft>
              <a:buNone/>
              <a:defRPr sz="2400">
                <a:latin typeface="Calibri"/>
              </a:defRPr>
            </a:pPr>
            <a:r>
              <a:rPr b="0" dirty="0"/>
              <a:t>Automate cybersecurity incident investigation using Agentic AI.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b="0" dirty="0"/>
              <a:t>Analyze and correlate security logs, alerts, and incident data from multiple sources.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b="0" dirty="0"/>
              <a:t>Identify potential threats, root causes, and attack patterns through multi-step AI reasoning.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b="0" dirty="0"/>
              <a:t>Generate attack timelines and recommend appropriate response actions.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b="0" dirty="0"/>
              <a:t>Reduce incident investigation time and assist security analysts.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3600">
                <a:latin typeface="Calibri"/>
              </a:defRPr>
            </a:pPr>
            <a: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spcAft>
                <a:spcPts val="400"/>
              </a:spcAft>
              <a:defRPr sz="1800">
                <a:latin typeface="Calibri"/>
              </a:defRPr>
            </a:pPr>
            <a:r>
              <a:t>Autonomous AI Agent for Cybersecurity Investigation and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Autofit/>
          </a:bodyPr>
          <a:lstStyle/>
          <a:p>
            <a:pPr marL="0" indent="0">
              <a:spcAft>
                <a:spcPts val="400"/>
              </a:spcAft>
              <a:buNone/>
              <a:defRPr sz="2400">
                <a:latin typeface="Calibri"/>
              </a:defRPr>
            </a:pPr>
            <a:r>
              <a:rPr sz="2400" b="0" dirty="0"/>
              <a:t>Dataset Ingestion &amp; Normalization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sz="2400" b="0" dirty="0"/>
              <a:t>Security Event Storage &amp; PostgreSQL Integration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sz="2400" b="0" dirty="0"/>
              <a:t>BGE-M3 Embedding &amp; FAISS Indexing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sz="2400" b="0" dirty="0"/>
              <a:t>Hybrid Retrieval using FAISS + BM25</a:t>
            </a:r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sz="2400" b="0" dirty="0"/>
              <a:t>Agentic Investigation using </a:t>
            </a:r>
            <a:r>
              <a:rPr sz="2400" b="0" dirty="0" err="1"/>
              <a:t>LangGraph</a:t>
            </a:r>
            <a:endParaRPr sz="2400" b="0" dirty="0"/>
          </a:p>
          <a:p>
            <a:pPr>
              <a:spcAft>
                <a:spcPts val="400"/>
              </a:spcAft>
              <a:defRPr sz="2400">
                <a:latin typeface="Calibri"/>
              </a:defRPr>
            </a:pPr>
            <a:r>
              <a:rPr sz="2400" b="0" dirty="0"/>
              <a:t>MITRE ATT&amp;CK Threat Intelligence &amp; Incident Reporting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>
              <a:spcAft>
                <a:spcPts val="400"/>
              </a:spcAft>
              <a:defRPr sz="3600">
                <a:latin typeface="Calibri"/>
              </a:defRPr>
            </a:pPr>
            <a:r>
              <a:t>Modules to Cover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spcAft>
                <a:spcPts val="400"/>
              </a:spcAft>
              <a:defRPr sz="1800">
                <a:latin typeface="Calibri"/>
              </a:defRPr>
            </a:pPr>
            <a:r>
              <a:t>Autonomous AI Agent for Cybersecurity Investigation and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2200">
                <a:latin typeface="Calibri"/>
              </a:defRPr>
            </a:pPr>
            <a:r>
              <a:rPr sz="2400" b="0" dirty="0"/>
              <a:t>Security datasets → preprocessing &amp; normalization → PostgreSQL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↓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Security documents + MITRE ATT&amp;CK knowledge → BGE-M3 embeddings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↓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FAISS vector retrieval + BM25 lexical retrieval → candidate fusion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↓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BGE reranking → relevant evidence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↓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 err="1"/>
              <a:t>LangGraph</a:t>
            </a:r>
            <a:r>
              <a:rPr sz="2400" b="0" dirty="0"/>
              <a:t> agent → investigation, correlation, reasoning &amp; MITRE mapping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↓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Local LLM → evidence-based incident report and response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>
              <a:spcAft>
                <a:spcPts val="400"/>
              </a:spcAft>
              <a:defRPr sz="3600">
                <a:latin typeface="Calibri"/>
              </a:defRPr>
            </a:pPr>
            <a: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spcAft>
                <a:spcPts val="400"/>
              </a:spcAft>
              <a:defRPr sz="1800">
                <a:latin typeface="Calibri"/>
              </a:defRPr>
            </a:pPr>
            <a:r>
              <a:t>Autonomous AI Agent for Cybersecurity Investigation and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2200">
                <a:latin typeface="Calibri"/>
              </a:defRPr>
            </a:pPr>
            <a:r>
              <a:rPr sz="2400" b="0" dirty="0"/>
              <a:t>Combine BETH, CIC-IDS2017 and UNSW-NB15 security data while preserving dataset source.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Normalize common fields such as timestamp, IPs, ports, protocol, bytes, packets, duration, attack type, severity and label.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Clean missing values, inconsistent formats and duplicate records.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Create searchable security-event documents and MITRE ATT&amp;CK knowledge documents.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Generate BGE-M3 embeddings and build the local FAISS index; prepare BM25 lexical retrieval.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>
              <a:spcAft>
                <a:spcPts val="400"/>
              </a:spcAft>
              <a:defRPr sz="3600">
                <a:latin typeface="Calibri"/>
              </a:defRPr>
            </a:pPr>
            <a: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spcAft>
                <a:spcPts val="400"/>
              </a:spcAft>
              <a:defRPr sz="1800">
                <a:latin typeface="Calibri"/>
              </a:defRPr>
            </a:pPr>
            <a:r>
              <a:t>Autonomous AI Agent for Cybersecurity Investigation and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2100">
                <a:latin typeface="Calibri"/>
              </a:defRPr>
            </a:pPr>
            <a:r>
              <a:rPr sz="1800" b="0" dirty="0"/>
              <a:t>Agentic AI / Orchestration → </a:t>
            </a:r>
            <a:r>
              <a:rPr sz="1800" b="0" dirty="0" err="1"/>
              <a:t>LangGraph</a:t>
            </a:r>
            <a:endParaRPr lang="en-US" sz="1800" b="0" dirty="0">
              <a:solidFill>
                <a:srgbClr val="5583D1"/>
              </a:solidFill>
            </a:endParaRP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sz="1800" b="0" dirty="0"/>
              <a:t>RAG → Retrieval-Augmented Generation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sz="1800" b="0" dirty="0"/>
              <a:t>LLM → Local Llama / </a:t>
            </a:r>
            <a:r>
              <a:rPr sz="1800" b="0" dirty="0" err="1"/>
              <a:t>Ollama</a:t>
            </a:r>
            <a:endParaRPr sz="1800" b="0" dirty="0"/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sz="1800" b="0" dirty="0"/>
              <a:t>Embeddings → BGE-M3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sz="1800" b="0" dirty="0"/>
              <a:t>Vector Search → FAISS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sz="1800" b="0" dirty="0"/>
              <a:t>Lexical Retrieval → BM25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sz="1800" b="0" dirty="0"/>
              <a:t>Reranking → BGE </a:t>
            </a:r>
            <a:r>
              <a:rPr sz="1800" b="0" dirty="0" err="1"/>
              <a:t>Reranker</a:t>
            </a:r>
            <a:endParaRPr sz="1800" b="0" dirty="0"/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sz="1800" b="0" dirty="0"/>
              <a:t>Threat Intelligence → MITRE ATT&amp;CK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sz="1800" b="0" dirty="0"/>
              <a:t>Database → PostgreSQL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sz="1800" b="0" dirty="0"/>
              <a:t>Backend → </a:t>
            </a:r>
            <a:r>
              <a:rPr sz="1800" b="0" dirty="0" err="1"/>
              <a:t>FastAPI</a:t>
            </a:r>
            <a:endParaRPr sz="1800" b="0" dirty="0"/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sz="1800" b="0" dirty="0"/>
              <a:t>Frontend → HTML / CSS / JavaScript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sz="1800" b="0" dirty="0"/>
              <a:t>Big Data Processing → </a:t>
            </a:r>
            <a:r>
              <a:rPr sz="1800" b="0" dirty="0" err="1"/>
              <a:t>PySpark</a:t>
            </a:r>
            <a:endParaRPr sz="18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>
              <a:spcAft>
                <a:spcPts val="400"/>
              </a:spcAft>
              <a:defRPr sz="3600">
                <a:latin typeface="Calibri"/>
              </a:defRPr>
            </a:pPr>
            <a: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spcAft>
                <a:spcPts val="400"/>
              </a:spcAft>
              <a:defRPr sz="1800">
                <a:latin typeface="Calibri"/>
              </a:defRPr>
            </a:pPr>
            <a:r>
              <a:t>Autonomous AI Agent for Cybersecurity Investigation and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✓ Project structure and virtual environment setup completed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✓ Cybersecurity datasets and MITRE ATT&amp;CK sources identified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✓ Data normalization and PostgreSQL storage planned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✓ RAG architecture: BGE-M3 + FAISS + BM25 + BGE </a:t>
            </a:r>
            <a:r>
              <a:rPr sz="2400" b="0" dirty="0" err="1"/>
              <a:t>Reranker</a:t>
            </a:r>
            <a:r>
              <a:rPr sz="2400" b="0" dirty="0"/>
              <a:t> defined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✓ Agentic investigation workflow designed using </a:t>
            </a:r>
            <a:r>
              <a:rPr sz="2400" b="0" dirty="0" err="1"/>
              <a:t>LangGraph</a:t>
            </a:r>
            <a:endParaRPr sz="2400" b="0" dirty="0"/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✓ </a:t>
            </a:r>
            <a:r>
              <a:rPr sz="2400" b="0" dirty="0" err="1"/>
              <a:t>FastAPI</a:t>
            </a:r>
            <a:r>
              <a:rPr sz="2400" b="0" dirty="0"/>
              <a:t> + HTML/CSS/JavaScript architecture selected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rPr sz="2400" b="0" dirty="0"/>
              <a:t>→ Current focus: implementation, integration, performance testing and final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>
              <a:spcAft>
                <a:spcPts val="400"/>
              </a:spcAft>
              <a:defRPr sz="3600">
                <a:latin typeface="Calibri"/>
              </a:defRPr>
            </a:pPr>
            <a: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spcAft>
                <a:spcPts val="400"/>
              </a:spcAft>
              <a:defRPr sz="1800">
                <a:latin typeface="Calibri"/>
              </a:defRPr>
            </a:pPr>
            <a:r>
              <a:t>Autonomous AI Agent for Cybersecurity Investigation and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5949932" cy="4142989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2100">
                <a:latin typeface="Calibri"/>
              </a:defRPr>
            </a:pPr>
            <a:r>
              <a:rPr sz="2000" b="0" dirty="0"/>
              <a:t>Raw Security Datasets + MITRE ATT&amp;CK</a:t>
            </a:r>
            <a:endParaRPr lang="en-US" sz="2000" b="0" dirty="0">
              <a:solidFill>
                <a:srgbClr val="5583D1"/>
              </a:solidFill>
            </a:endParaRPr>
          </a:p>
          <a:p>
            <a:pPr marL="0" indent="0">
              <a:spcAft>
                <a:spcPts val="400"/>
              </a:spcAft>
              <a:buNone/>
              <a:defRPr sz="2100">
                <a:latin typeface="Calibri"/>
              </a:defRPr>
            </a:pPr>
            <a:r>
              <a:rPr sz="2000" b="0" dirty="0"/>
              <a:t>↓</a:t>
            </a:r>
          </a:p>
          <a:p>
            <a:pPr marL="0" indent="0">
              <a:spcAft>
                <a:spcPts val="400"/>
              </a:spcAft>
              <a:buNone/>
              <a:defRPr sz="2100">
                <a:latin typeface="Calibri"/>
              </a:defRPr>
            </a:pPr>
            <a:r>
              <a:rPr sz="2000" b="0" dirty="0"/>
              <a:t>ETL, Cleaning &amp; Normalization</a:t>
            </a:r>
          </a:p>
          <a:p>
            <a:pPr marL="0" indent="0">
              <a:spcAft>
                <a:spcPts val="400"/>
              </a:spcAft>
              <a:buNone/>
              <a:defRPr sz="2100">
                <a:latin typeface="Calibri"/>
              </a:defRPr>
            </a:pPr>
            <a:r>
              <a:rPr sz="2000" b="0" dirty="0"/>
              <a:t>↓</a:t>
            </a:r>
          </a:p>
          <a:p>
            <a:pPr marL="0" indent="0">
              <a:spcAft>
                <a:spcPts val="400"/>
              </a:spcAft>
              <a:buNone/>
              <a:defRPr sz="2100">
                <a:latin typeface="Calibri"/>
              </a:defRPr>
            </a:pPr>
            <a:r>
              <a:rPr sz="2000" b="0" dirty="0"/>
              <a:t>PostgreSQL Security Event Store</a:t>
            </a:r>
          </a:p>
          <a:p>
            <a:pPr marL="0" indent="0">
              <a:spcAft>
                <a:spcPts val="400"/>
              </a:spcAft>
              <a:buNone/>
              <a:defRPr sz="2100">
                <a:latin typeface="Calibri"/>
              </a:defRPr>
            </a:pPr>
            <a:r>
              <a:rPr sz="2000" b="0" dirty="0"/>
              <a:t>↓</a:t>
            </a:r>
          </a:p>
          <a:p>
            <a:pPr marL="0" indent="0">
              <a:spcAft>
                <a:spcPts val="400"/>
              </a:spcAft>
              <a:buNone/>
              <a:defRPr sz="2100">
                <a:latin typeface="Calibri"/>
              </a:defRPr>
            </a:pPr>
            <a:r>
              <a:rPr sz="2000" b="0" dirty="0"/>
              <a:t>Security Documents + Threat Intelligence Documents</a:t>
            </a:r>
          </a:p>
          <a:p>
            <a:pPr marL="0" indent="0">
              <a:spcAft>
                <a:spcPts val="400"/>
              </a:spcAft>
              <a:buNone/>
              <a:defRPr sz="2100">
                <a:latin typeface="Calibri"/>
              </a:defRPr>
            </a:pPr>
            <a:r>
              <a:rPr sz="2000" b="0" dirty="0"/>
              <a:t>↓</a:t>
            </a:r>
          </a:p>
          <a:p>
            <a:pPr marL="0" indent="0">
              <a:spcAft>
                <a:spcPts val="400"/>
              </a:spcAft>
              <a:buNone/>
              <a:defRPr sz="2100">
                <a:latin typeface="Calibri"/>
              </a:defRPr>
            </a:pPr>
            <a:r>
              <a:rPr sz="2000" b="0" dirty="0"/>
              <a:t>BGE-M3 Embeddings</a:t>
            </a:r>
          </a:p>
          <a:p>
            <a:pPr marL="0" indent="0">
              <a:spcAft>
                <a:spcPts val="400"/>
              </a:spcAft>
              <a:buNone/>
              <a:defRPr sz="2100">
                <a:latin typeface="Calibri"/>
              </a:defRPr>
            </a:pPr>
            <a:r>
              <a:rPr sz="2000" b="0" dirty="0"/>
              <a:t>↓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>
              <a:spcAft>
                <a:spcPts val="400"/>
              </a:spcAft>
              <a:defRPr sz="3600">
                <a:latin typeface="Calibri"/>
              </a:defRPr>
            </a:pPr>
            <a: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spcAft>
                <a:spcPts val="400"/>
              </a:spcAft>
              <a:defRPr sz="1800">
                <a:latin typeface="Calibri"/>
              </a:defRPr>
            </a:pPr>
            <a:r>
              <a:t>Autonomous AI Agent for Cybersecurity Investigation and Incident Response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F4D69-1E0C-C999-1479-6E93A5C319CE}"/>
              </a:ext>
            </a:extLst>
          </p:cNvPr>
          <p:cNvSpPr txBox="1"/>
          <p:nvPr/>
        </p:nvSpPr>
        <p:spPr>
          <a:xfrm>
            <a:off x="5966848" y="1271219"/>
            <a:ext cx="5949932" cy="4811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lang="en-IN" dirty="0"/>
              <a:t>FAISS + BM25 Hybrid Retrieval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lang="en-IN" dirty="0"/>
              <a:t>↓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lang="en-IN" dirty="0"/>
              <a:t>BGE </a:t>
            </a:r>
            <a:r>
              <a:rPr lang="en-IN" dirty="0" err="1"/>
              <a:t>Reranker</a:t>
            </a:r>
            <a:endParaRPr lang="en-IN" dirty="0"/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lang="en-IN" dirty="0"/>
              <a:t>↓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lang="en-IN" dirty="0" err="1"/>
              <a:t>LangGraph</a:t>
            </a:r>
            <a:r>
              <a:rPr lang="en-IN" dirty="0"/>
              <a:t> Agentic Investigation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lang="en-IN" dirty="0"/>
              <a:t>↓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lang="en-IN" dirty="0"/>
              <a:t>Local LLM Reasoning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lang="en-IN" dirty="0"/>
              <a:t>↓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lang="en-IN" dirty="0"/>
              <a:t>Incident Timeline + Evidence + MITRE Mapping + Response Recommendations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lang="en-IN" dirty="0"/>
              <a:t>↓</a:t>
            </a:r>
          </a:p>
          <a:p>
            <a:pPr>
              <a:spcAft>
                <a:spcPts val="400"/>
              </a:spcAft>
              <a:defRPr sz="2100">
                <a:latin typeface="Calibri"/>
              </a:defRPr>
            </a:pPr>
            <a:r>
              <a:rPr lang="en-IN" dirty="0" err="1"/>
              <a:t>FastAPI</a:t>
            </a:r>
            <a:r>
              <a:rPr lang="en-IN" dirty="0"/>
              <a:t> + HTML/CSS/JS Web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41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Venkata Sainath Reddy</lastModifiedBy>
  <revision>14</revision>
  <dcterms:created xsi:type="dcterms:W3CDTF">2024-05-13T10:33:11.0000000Z</dcterms:created>
  <dcterms:modified xsi:type="dcterms:W3CDTF">2026-10-05T22:12:38.6520000Z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